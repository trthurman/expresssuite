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56"/>
    <p:restoredTop sz="94658"/>
  </p:normalViewPr>
  <p:slideViewPr>
    <p:cSldViewPr snapToGrid="0" snapToObjects="1">
      <p:cViewPr varScale="1">
        <p:scale>
          <a:sx n="106" d="100"/>
          <a:sy n="106" d="100"/>
        </p:scale>
        <p:origin x="776" y="48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F83CFD-0412-1049-B42F-5D6C06BE0963}" type="datetimeFigureOut">
              <a:rPr lang="en-US" smtClean="0"/>
              <a:t>5/2/26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BF1384-D428-ED4E-9EAD-1678F5DDFD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9006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don’t actually care what the value is after </a:t>
            </a:r>
            <a:r>
              <a:rPr lang="en-US"/>
              <a:t>the semicolon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BF1384-D428-ED4E-9EAD-1678F5DDFDA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33796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easyEXPRESS Viewers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Annotated EXPRESS, EXPRESS-G, and Math Rendering in VS Code</a:t>
            </a:r>
          </a:p>
          <a:p>
            <a:r>
              <a:t>Version 0.4.0  ·  May 2026</a:t>
            </a:r>
          </a:p>
          <a:p>
            <a:r>
              <a:t>Thomas Thurman  ·  TRThurman Consulting</a:t>
            </a:r>
          </a:p>
          <a:p>
            <a:r>
              <a:t>Audience: ISO TC 184/SC 4 WG12 stakeholders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status before 0.4.0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2960" y="1847088"/>
            <a:ext cx="7543800" cy="4023360"/>
          </a:xfrm>
        </p:spPr>
        <p:txBody>
          <a:bodyPr/>
          <a:lstStyle/>
          <a:p>
            <a:r>
              <a:rPr sz="1800"/>
              <a:t>Authors edit annotated EXPRESS in VS Code; render via Metanorma toolchain.</a:t>
            </a:r>
          </a:p>
          <a:p>
            <a:r>
              <a:rPr sz="1800"/>
              <a:t>In the editor itself, the annotations are invisible:</a:t>
            </a:r>
          </a:p>
          <a:p>
            <a:pPr lvl="1"/>
            <a:r>
              <a:rPr sz="1500"/>
              <a:t>Hovering on point shows the bare ENTITY declaration with no description.</a:t>
            </a:r>
          </a:p>
          <a:p>
            <a:pPr lvl="1"/>
            <a:r>
              <a:rPr sz="1500"/>
              <a:t>Embedded math (stem:[RR^m]) appears as raw source text.</a:t>
            </a:r>
          </a:p>
          <a:p>
            <a:pPr lvl="1"/>
            <a:r>
              <a:rPr sz="1500"/>
              <a:t>Cross-references render as &lt;&lt;express:…&gt;&gt;, not links.</a:t>
            </a:r>
          </a:p>
          <a:p>
            <a:pPr lvl="1"/>
            <a:r>
              <a:rPr sz="1500"/>
              <a:t>EXPRESS-G diagrams stored alongside .exp files appear as XML when opened.</a:t>
            </a:r>
          </a:p>
          <a:p>
            <a:r>
              <a:rPr sz="1800"/>
              <a:t>Author–publish loop: edit, save, run Metanorma, look at HTML/PDF, return to editor.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Four new viewer surfaces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2960" y="1847088"/>
            <a:ext cx="7543800" cy="4023360"/>
          </a:xfrm>
        </p:spPr>
        <p:txBody>
          <a:bodyPr/>
          <a:lstStyle/>
          <a:p>
            <a:r>
              <a:rPr sz="1800"/>
              <a:t>Hover (MarkdownString)</a:t>
            </a:r>
          </a:p>
          <a:p>
            <a:pPr lvl="1"/>
            <a:r>
              <a:rPr sz="1500"/>
              <a:t>Truncated description with rendered xref command-links and inline math glyphs.</a:t>
            </a:r>
          </a:p>
          <a:p>
            <a:r>
              <a:rPr sz="1800"/>
              <a:t>Description preview (WebviewPanel)</a:t>
            </a:r>
          </a:p>
          <a:p>
            <a:pPr lvl="1"/>
            <a:r>
              <a:rPr sz="1500"/>
              <a:t>Full Asciidoctor render with embedded MathML; same fidelity as Metanorma.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Four new viewer surfaces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2960" y="1847088"/>
            <a:ext cx="7543800" cy="4023360"/>
          </a:xfrm>
        </p:spPr>
        <p:txBody>
          <a:bodyPr/>
          <a:lstStyle/>
          <a:p>
            <a:r>
              <a:rPr sz="1800"/>
              <a:t>EXPRESS-G interactive viewer (WebviewPanel)</a:t>
            </a:r>
          </a:p>
          <a:p>
            <a:pPr lvl="1"/>
            <a:r>
              <a:rPr sz="1500"/>
              <a:t>Click any labelled box; jumps to the entity's source declaration.</a:t>
            </a:r>
          </a:p>
          <a:p>
            <a:r>
              <a:rPr sz="1800"/>
              <a:t>AsciiMath playground (WebviewPanel)</a:t>
            </a:r>
          </a:p>
          <a:p>
            <a:pPr lvl="1"/>
            <a:r>
              <a:rPr sz="1500"/>
              <a:t>Live rendering of typed AsciiMath; Insert at cursor pastes stem:[…].</a:t>
            </a:r>
          </a:p>
          <a:p>
            <a:r>
              <a:rPr sz="1800"/>
              <a:t>All four are side-by-side beside the editor; no separate build step.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Annotated EXPRESS — format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2960" y="1847088"/>
            <a:ext cx="7543800" cy="4023360"/>
          </a:xfrm>
        </p:spPr>
        <p:txBody>
          <a:bodyPr/>
          <a:lstStyle/>
          <a:p>
            <a:r>
              <a:rPr sz="1800"/>
              <a:t>Spec: github.com/metanorma/annotated-express</a:t>
            </a:r>
          </a:p>
          <a:p>
            <a:r>
              <a:rPr sz="1800"/>
              <a:t>Named-remark comments: (*"tag" body *)</a:t>
            </a:r>
          </a:p>
          <a:p>
            <a:pPr lvl="1"/>
            <a:r>
              <a:rPr sz="1500"/>
              <a:t>Tag: dotted path  schema_name.entity_name[.attribute_name][.__subtype]</a:t>
            </a:r>
          </a:p>
          <a:p>
            <a:pPr lvl="1"/>
            <a:r>
              <a:rPr sz="1500"/>
              <a:t>Subtypes: __note, __example, __figure, __fund_cons, __expressg</a:t>
            </a:r>
          </a:p>
          <a:p>
            <a:pPr lvl="1"/>
            <a:r>
              <a:rPr sz="1500"/>
              <a:t>Body: Metanorma AsciiDoc — bold, links, cross-refs, tables, images, stem:[…]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Annotated EXPRESS — corpus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2960" y="1847088"/>
            <a:ext cx="7543800" cy="4023360"/>
          </a:xfrm>
        </p:spPr>
        <p:txBody>
          <a:bodyPr/>
          <a:lstStyle/>
          <a:p>
            <a:r>
              <a:rPr sz="1800"/>
              <a:t>Surveyed: sd.iso.org/wg12-step + github.com/metanorma/annotated-express</a:t>
            </a:r>
          </a:p>
          <a:p>
            <a:r>
              <a:rPr sz="1800"/>
              <a:t>geometry_schema: 754 stem expressions, 16 EXPRESS-G diagrams</a:t>
            </a:r>
          </a:p>
          <a:p>
            <a:r>
              <a:rPr sz="1800"/>
              <a:t>topology / mesh_topology / presentation_appearance: per-schema fixtures committed</a:t>
            </a:r>
          </a:p>
          <a:p>
            <a:r>
              <a:rPr sz="1800"/>
              <a:t>equations_schema mixes stem:[…] (62) and latexmath:[…] (82)</a:t>
            </a:r>
          </a:p>
          <a:p>
            <a:pPr lvl="1"/>
            <a:r>
              <a:rPr sz="1500"/>
              <a:t>Both formats supported; Plurimath natively accepts either.</a:t>
            </a:r>
          </a:p>
          <a:p>
            <a:r>
              <a:rPr sz="1800"/>
              <a:t>Test fixtures: test-fixtures/asciimath/&lt;schema&gt;-examples.json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EXPRESS-G — [.svgmap] block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2960" y="1847088"/>
            <a:ext cx="7543800" cy="4023360"/>
          </a:xfrm>
        </p:spPr>
        <p:txBody>
          <a:bodyPr/>
          <a:lstStyle/>
          <a:p>
            <a:r>
              <a:rPr sz="1800"/>
              <a:t>Each __expressg remark contains a [.svgmap] block:</a:t>
            </a:r>
          </a:p>
          <a:p>
            <a:pPr lvl="1"/>
            <a:r>
              <a:rPr sz="1500"/>
              <a:t>image::geometry_schemaexpg4.svg[]</a:t>
            </a:r>
          </a:p>
          <a:p>
            <a:pPr lvl="1"/>
            <a:r>
              <a:rPr sz="1500"/>
              <a:t>* &lt;&lt;express:geometry_schema.point&gt;&gt;; 37</a:t>
            </a:r>
          </a:p>
          <a:p>
            <a:pPr lvl="1"/>
            <a:r>
              <a:rPr sz="1500"/>
              <a:t>* &lt;&lt;express:geometry_schema.cartesian_point&gt;&gt;; 36</a:t>
            </a:r>
          </a:p>
          <a:p>
            <a:r>
              <a:rPr sz="1800"/>
              <a:t>The integer N maps to the SVG's &lt;a href="N"&gt; rectangle overlay.</a:t>
            </a:r>
          </a:p>
          <a:p>
            <a:r>
              <a:rPr sz="1800"/>
              <a:t>Annotation index parses block once per document parse.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EXPRESS-G — author flow + resolver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2960" y="1847088"/>
            <a:ext cx="7543800" cy="4023360"/>
          </a:xfrm>
        </p:spPr>
        <p:txBody>
          <a:bodyPr/>
          <a:lstStyle/>
          <a:p>
            <a:r>
              <a:rPr sz="1800"/>
              <a:t>Right-click an entity → Show EXPRESS-G Diagram.</a:t>
            </a:r>
          </a:p>
          <a:p>
            <a:r>
              <a:rPr sz="1800"/>
              <a:t>Picker auto-selects the diagram(s) referencing the cursor entity.</a:t>
            </a:r>
          </a:p>
          <a:p>
            <a:r>
              <a:rPr sz="1800"/>
              <a:t>Click a labelled box → host resolves the entity → jumps to source.</a:t>
            </a:r>
          </a:p>
          <a:p>
            <a:r>
              <a:rPr sz="1800"/>
              <a:t>Resolver: IndexManager.allElements() first.</a:t>
            </a:r>
          </a:p>
          <a:p>
            <a:pPr lvl="1"/>
            <a:r>
              <a:rPr sz="1500"/>
              <a:t>Filesystem-scan fallback for dev-host single-file mode.</a:t>
            </a:r>
          </a:p>
          <a:p>
            <a:pPr lvl="1"/>
            <a:r>
              <a:rPr sz="1500"/>
              <a:t>Path components validated for empty, '.', '..', '/', '\' before path.join.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Math rendering — Plurimath for description preview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2960" y="1847088"/>
            <a:ext cx="7543800" cy="4023360"/>
          </a:xfrm>
        </p:spPr>
        <p:txBody>
          <a:bodyPr/>
          <a:lstStyle/>
          <a:p>
            <a:r>
              <a:rPr sz="1800"/>
              <a:t>Plurimath JS (Ribose, BSD-2-Clause).</a:t>
            </a:r>
          </a:p>
          <a:p>
            <a:pPr lvl="1"/>
            <a:r>
              <a:rPr sz="1500"/>
              <a:t>Same converter the upstream Metanorma toolchain uses.</a:t>
            </a:r>
          </a:p>
          <a:p>
            <a:pPr lvl="1"/>
            <a:r>
              <a:rPr sz="1500"/>
              <a:t>Author-time rendering = publish-time rendering.</a:t>
            </a:r>
          </a:p>
          <a:p>
            <a:pPr lvl="1"/>
            <a:r>
              <a:rPr sz="1500"/>
              <a:t>Native MathML output; Chromium webview renders it natively.</a:t>
            </a:r>
          </a:p>
          <a:p>
            <a:r>
              <a:rPr sz="1800"/>
              <a:t>Runs in a node:worker_threads worker — terminate-on-timeout for hung renders.</a:t>
            </a:r>
          </a:p>
          <a:p>
            <a:r>
              <a:rPr sz="1800"/>
              <a:t>Accepts both AsciiMath and LaTeX (latexmath:[…]).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Math rendering — MathJax for hover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2960" y="1847088"/>
            <a:ext cx="7543800" cy="4023360"/>
          </a:xfrm>
        </p:spPr>
        <p:txBody>
          <a:bodyPr/>
          <a:lstStyle/>
          <a:p>
            <a:r>
              <a:rPr sz="1800"/>
              <a:t>Hovers can't host MathML or scripts (CSP-restricted).</a:t>
            </a:r>
          </a:p>
          <a:p>
            <a:r>
              <a:rPr sz="1800"/>
              <a:t>MathJax v4 input/asciimath + output/svg → SVG-as-data-URI &lt;img&gt;.</a:t>
            </a:r>
          </a:p>
          <a:p>
            <a:pPr lvl="1"/>
            <a:r>
              <a:rPr sz="1500"/>
              <a:t>~270 KB; cached in an LRU keyed on AsciiMath source.</a:t>
            </a:r>
          </a:p>
          <a:p>
            <a:r>
              <a:rPr sz="1800"/>
              <a:t>Dual-engine split is deliberate, not an oversight.</a:t>
            </a:r>
          </a:p>
          <a:p>
            <a:pPr lvl="1"/>
            <a:r>
              <a:rPr sz="1500"/>
              <a:t>"Show full description" link gives one-click access to canonical render.</a:t>
            </a:r>
          </a:p>
          <a:p>
            <a:r>
              <a:rPr sz="1800"/>
              <a:t>Resource limits: per-expression 16 KB, per-document 500 stems, 2 s timeout.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 — three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2960" y="1847088"/>
            <a:ext cx="7543800" cy="4023360"/>
          </a:xfrm>
        </p:spPr>
        <p:txBody>
          <a:bodyPr/>
          <a:lstStyle/>
          <a:p>
            <a:r>
              <a:rPr sz="1800"/>
              <a:t>Extension host (Node, 780 KB bundle)</a:t>
            </a:r>
          </a:p>
          <a:p>
            <a:pPr lvl="1"/>
            <a:r>
              <a:rPr sz="1500"/>
              <a:t>Hover provider, command handlers, webview orchestration.</a:t>
            </a:r>
          </a:p>
          <a:p>
            <a:r>
              <a:rPr sz="1800"/>
              <a:t>Language server (Node, 1.7 MB bundle)</a:t>
            </a:r>
          </a:p>
          <a:p>
            <a:pPr lvl="1"/>
            <a:r>
              <a:rPr sz="1500"/>
              <a:t>Langium services + ExpressP11AnnotationIndex.</a:t>
            </a:r>
          </a:p>
          <a:p>
            <a:pPr lvl="1"/>
            <a:r>
              <a:rPr sz="1500"/>
              <a:t>Custom LSP requests: getAnnotations, findAnnotationsForEntity, resolveEntity.</a:t>
            </a:r>
          </a:p>
          <a:p>
            <a:r>
              <a:rPr sz="1800"/>
              <a:t>Webview render targets (Chromium)</a:t>
            </a:r>
          </a:p>
          <a:p>
            <a:pPr lvl="1"/>
            <a:r>
              <a:rPr sz="1500"/>
              <a:t>One WebviewPanel per surface, isolated CSP, isolated message channel.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 — engines + bundling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2960" y="1847088"/>
            <a:ext cx="7543800" cy="4023360"/>
          </a:xfrm>
        </p:spPr>
        <p:txBody>
          <a:bodyPr/>
          <a:lstStyle/>
          <a:p>
            <a:r>
              <a:rPr sz="1800"/>
              <a:t>Plurimath worker (node:worker_threads, pool=1) — terminate-on-timeout.</a:t>
            </a:r>
          </a:p>
          <a:p>
            <a:r>
              <a:rPr sz="1800"/>
              <a:t>MathJax in extension host — for hover SVG path only.</a:t>
            </a:r>
          </a:p>
          <a:p>
            <a:r>
              <a:rPr sz="1800"/>
              <a:t>Vendor JS pinned to exact versions in package.json.</a:t>
            </a:r>
          </a:p>
          <a:p>
            <a:pPr lvl="1"/>
            <a:r>
              <a:rPr sz="1500"/>
              <a:t>@plurimath/plurimath and mathjax marked external; loaded at runtime.</a:t>
            </a:r>
          </a:p>
          <a:p>
            <a:pPr lvl="1"/>
            <a:r>
              <a:rPr sz="1500"/>
              <a:t>@asciidoctor/core, dompurify ship as webview vendor assets.</a:t>
            </a:r>
          </a:p>
          <a:p>
            <a:r>
              <a:rPr sz="1800"/>
              <a:t>esbuild emits CJS bundles; package.json shim flips out/ subtrees to type:commonjs.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privacy — easyEXPRESS itself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2960" y="1847088"/>
            <a:ext cx="7543800" cy="4023360"/>
          </a:xfrm>
        </p:spPr>
        <p:txBody>
          <a:bodyPr/>
          <a:lstStyle/>
          <a:p>
            <a:r>
              <a:rPr sz="1800"/>
              <a:t>Zero outbound network calls — verifiable three ways:</a:t>
            </a:r>
          </a:p>
          <a:p>
            <a:pPr lvl="1"/>
            <a:r>
              <a:rPr sz="1500"/>
              <a:t>Webview CSP connect-src 'none' (Chromium refuses fetch/XHR/WebSocket).</a:t>
            </a:r>
          </a:p>
          <a:p>
            <a:pPr lvl="1"/>
            <a:r>
              <a:rPr sz="1500"/>
              <a:t>No fetch, no http(s) require, no telemetry SDK in the extension host.</a:t>
            </a:r>
          </a:p>
          <a:p>
            <a:pPr lvl="1"/>
            <a:r>
              <a:rPr sz="1500"/>
              <a:t>$ grep -rE 'fetch\(|require\(.https?.\)' src/  →  empty.</a:t>
            </a:r>
          </a:p>
          <a:p>
            <a:r>
              <a:rPr sz="1800"/>
              <a:t>Plurimath and MathJax workers never make network calls in our usage.</a:t>
            </a:r>
          </a:p>
          <a:p>
            <a:r>
              <a:rPr sz="1800"/>
              <a:t>Vendor packages pinned to exact versions; npm audit clean.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privacy — Copilot Chat is in the same window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2960" y="1847088"/>
            <a:ext cx="7543800" cy="4023360"/>
          </a:xfrm>
        </p:spPr>
        <p:txBody>
          <a:bodyPr/>
          <a:lstStyle/>
          <a:p>
            <a:r>
              <a:rPr sz="1800"/>
              <a:t>VS Code Insiders ships GitHub Copilot Chat as a built-in feature.</a:t>
            </a:r>
          </a:p>
          <a:p>
            <a:pPr lvl="1"/>
            <a:r>
              <a:rPr sz="1500"/>
              <a:t>--disable-extensions does NOT remove it.</a:t>
            </a:r>
          </a:p>
          <a:p>
            <a:r>
              <a:rPr sz="1800"/>
              <a:t>Explain / Add File to Chat / Open Inline Chat / Review send to GitHub/MS:</a:t>
            </a:r>
          </a:p>
          <a:p>
            <a:pPr lvl="1"/>
            <a:r>
              <a:rPr sz="1500"/>
              <a:t>Cursor word + enclosing scope (via DocumentSymbolProvider).</a:t>
            </a:r>
          </a:p>
          <a:p>
            <a:pPr lvl="1"/>
            <a:r>
              <a:rPr sz="1500"/>
              <a:t>Surrounding ±N source lines (typically 20–50).</a:t>
            </a:r>
          </a:p>
          <a:p>
            <a:pPr lvl="1"/>
            <a:r>
              <a:rPr sz="1500"/>
              <a:t>Snippets from other open editors (with default useProjectContext).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privacy — mitigations for pre-publication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2960" y="1847088"/>
            <a:ext cx="7543800" cy="4023360"/>
          </a:xfrm>
        </p:spPr>
        <p:txBody>
          <a:bodyPr/>
          <a:lstStyle/>
          <a:p>
            <a:r>
              <a:rPr sz="1800"/>
              <a:t>Sign out of GitHub in the affected VS Code window.</a:t>
            </a:r>
          </a:p>
          <a:p>
            <a:pPr lvl="1"/>
            <a:r>
              <a:rPr sz="1500"/>
              <a:t>Account icon, bottom-left → Sign Out.</a:t>
            </a:r>
          </a:p>
          <a:p>
            <a:pPr lvl="1"/>
            <a:r>
              <a:rPr sz="1500"/>
              <a:t>Without auth, Copilot Chat cannot reach its API.</a:t>
            </a:r>
          </a:p>
          <a:p>
            <a:r>
              <a:rPr sz="1800"/>
              <a:t>Set chat.disableAIFeatures: true in workspace settings.</a:t>
            </a:r>
          </a:p>
          <a:p>
            <a:pPr lvl="1"/>
            <a:r>
              <a:rPr sz="1500"/>
              <a:t>Hard switch in recent VS Code releases.</a:t>
            </a:r>
          </a:p>
          <a:p>
            <a:r>
              <a:rPr sz="1800"/>
              <a:t>Best practice: a separate, signed-out window for any sensitive standards work.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— instrumentation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2960" y="1847088"/>
            <a:ext cx="7543800" cy="4023360"/>
          </a:xfrm>
        </p:spPr>
        <p:txBody>
          <a:bodyPr/>
          <a:lstStyle/>
          <a:p>
            <a:r>
              <a:rPr sz="1800"/>
              <a:t>Every user-facing path wrapped with perf.time(label).</a:t>
            </a:r>
          </a:p>
          <a:p>
            <a:r>
              <a:rPr sz="1800"/>
              <a:t>Logs to OutputChannel "easyEXPRESS Viewers" with timestamp.</a:t>
            </a:r>
          </a:p>
          <a:p>
            <a:r>
              <a:rPr sz="1800"/>
              <a:t>Each path has a threshold; over-budget renders flag "⚠ over budget".</a:t>
            </a:r>
          </a:p>
          <a:p>
            <a:r>
              <a:rPr sz="1800"/>
              <a:t>Smoke-test checklist captures numbers automatically (docs/smoke-test-checklist.md).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— warm baselines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2960" y="1847088"/>
            <a:ext cx="7543800" cy="4023360"/>
          </a:xfrm>
        </p:spPr>
        <p:txBody>
          <a:bodyPr/>
          <a:lstStyle/>
          <a:p>
            <a:r>
              <a:rPr sz="1800"/>
              <a:t>Geometry_schema corpus, warm machine:</a:t>
            </a:r>
          </a:p>
          <a:p>
            <a:pPr lvl="1"/>
            <a:r>
              <a:rPr sz="1500"/>
              <a:t>activate: ≤ 500 ms / 1 500 ms warn threshold</a:t>
            </a:r>
          </a:p>
          <a:p>
            <a:pPr lvl="1"/>
            <a:r>
              <a:rPr sz="1500"/>
              <a:t>hover warm: ~50 ms / first-with-math: ~180 ms</a:t>
            </a:r>
          </a:p>
          <a:p>
            <a:pPr lvl="1"/>
            <a:r>
              <a:rPr sz="1500"/>
              <a:t>showDescription: ~600 ms first / ~200 ms warm</a:t>
            </a:r>
          </a:p>
          <a:p>
            <a:pPr lvl="1"/>
            <a:r>
              <a:rPr sz="1500"/>
              <a:t>showExpressG: ~400 ms</a:t>
            </a:r>
          </a:p>
          <a:p>
            <a:pPr lvl="1"/>
            <a:r>
              <a:rPr sz="1500"/>
              <a:t>math playground render: ≤ 200 ms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— bundle and packaging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2960" y="1847088"/>
            <a:ext cx="7543800" cy="4023360"/>
          </a:xfrm>
        </p:spPr>
        <p:txBody>
          <a:bodyPr/>
          <a:lstStyle/>
          <a:p>
            <a:r>
              <a:rPr sz="1800"/>
              <a:t>Extension host bundle: 780 KB</a:t>
            </a:r>
          </a:p>
          <a:p>
            <a:r>
              <a:rPr sz="1800"/>
              <a:t>Language server bundle: 1.7 MB</a:t>
            </a:r>
          </a:p>
          <a:p>
            <a:r>
              <a:rPr sz="1800"/>
              <a:t>Webview vendor assets: 3.9 MB</a:t>
            </a:r>
          </a:p>
          <a:p>
            <a:r>
              <a:rPr sz="1800"/>
              <a:t>.vsix: 8.3 MB / 195 files (well under 100 MB marketplace cap)</a:t>
            </a:r>
          </a:p>
          <a:p>
            <a:r>
              <a:rPr sz="1800"/>
              <a:t>@plurimath/plurimath and mathjax shipped from node_modules at runtime.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Installation and first 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2960" y="1847088"/>
            <a:ext cx="7543800" cy="4023360"/>
          </a:xfrm>
        </p:spPr>
        <p:txBody>
          <a:bodyPr/>
          <a:lstStyle/>
          <a:p>
            <a:r>
              <a:rPr sz="1800"/>
              <a:t>Install: $ code --install-extension easyexpress-0.4.0.vsix</a:t>
            </a:r>
          </a:p>
          <a:p>
            <a:r>
              <a:rPr sz="1800"/>
              <a:t>Reload VS Code; open a wg12-step .exp file.</a:t>
            </a:r>
          </a:p>
          <a:p>
            <a:r>
              <a:rPr sz="1800"/>
              <a:t>Hover any entity → MarkdownString popup with description, links, math.</a:t>
            </a:r>
          </a:p>
          <a:p>
            <a:r>
              <a:rPr sz="1800"/>
              <a:t>Right-click → Show Description → opens webview beside editor.</a:t>
            </a:r>
          </a:p>
          <a:p>
            <a:r>
              <a:rPr sz="1800"/>
              <a:t>Right-click → Show EXPRESS-G Diagram → narrowed picker → click hot-spots.</a:t>
            </a:r>
          </a:p>
          <a:p>
            <a:r>
              <a:rPr sz="1800"/>
              <a:t>Cmd+Shift+P → "Open AsciiMath Playground" → live math editor.</a:t>
            </a:r>
          </a:p>
          <a:p>
            <a:r>
              <a:rPr sz="1800"/>
              <a:t>Output panel → "easyEXPRESS Viewers" → see [perf] timings + diagnostic logs.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2960" y="1847088"/>
            <a:ext cx="7543800" cy="4023360"/>
          </a:xfrm>
        </p:spPr>
        <p:txBody>
          <a:bodyPr/>
          <a:lstStyle/>
          <a:p>
            <a:r>
              <a:rPr sz="1800"/>
              <a:t>Block-form math: [stem]/[asciimath]/[latexmath] open-blocks.</a:t>
            </a:r>
          </a:p>
          <a:p>
            <a:r>
              <a:rPr sz="1800"/>
              <a:t>EXPRESS-G as customEditor: "Reopen with EXPRESS-G Viewer" on any .svg.</a:t>
            </a:r>
          </a:p>
          <a:p>
            <a:r>
              <a:rPr sz="1800"/>
              <a:t>Performance under very large schemas: incremental annotation index.</a:t>
            </a:r>
          </a:p>
          <a:p>
            <a:r>
              <a:rPr sz="1800"/>
              <a:t>Cross-extension API: delegate to upstream asciidoctor-vscode if API published.</a:t>
            </a:r>
          </a:p>
          <a:p>
            <a:r>
              <a:rPr sz="1800"/>
              <a:t>Cross-platform smoke runs: macOS done; Linux / Windows pending.</a:t>
            </a:r>
          </a:p>
          <a:p>
            <a:r>
              <a:rPr sz="1800"/>
              <a:t>Phase-4 deliverables: this deck + companion white paper.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Questions and contact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2960" y="1847088"/>
            <a:ext cx="7543800" cy="4023360"/>
          </a:xfrm>
        </p:spPr>
        <p:txBody>
          <a:bodyPr/>
          <a:lstStyle/>
          <a:p>
            <a:r>
              <a:rPr sz="1800"/>
              <a:t>Project repository: github.com/TRThurman/easy-express-mirror</a:t>
            </a:r>
          </a:p>
          <a:p>
            <a:r>
              <a:rPr sz="1800"/>
              <a:t>Upstream: usnistgov/easy-express  (NIST)</a:t>
            </a:r>
          </a:p>
          <a:p>
            <a:r>
              <a:rPr sz="1800"/>
              <a:t>Issue tracker: github.com/TRThurman/easy-express-mirror/issues</a:t>
            </a:r>
          </a:p>
          <a:p>
            <a:r>
              <a:rPr sz="1800"/>
              <a:t>Maintainer: Thomas Thurman · thomas@trthurman.consulting</a:t>
            </a:r>
          </a:p>
          <a:p>
            <a:r>
              <a:rPr sz="1800"/>
              <a:t>Companion white paper: docs/easyEXPRESS-viewers.adoc</a:t>
            </a:r>
          </a:p>
          <a:p>
            <a:r>
              <a:rPr sz="1800"/>
              <a:t>Design protocol document: DESIGN-viewers-integration.md</a:t>
            </a:r>
          </a:p>
          <a:p>
            <a:r>
              <a:rPr sz="1800"/>
              <a:t>Smoke-test checklist: docs/smoke-test-checklist.md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1441</Words>
  <Application>Microsoft Macintosh PowerPoint</Application>
  <PresentationFormat>On-screen Show (4:3)</PresentationFormat>
  <Paragraphs>144</Paragraphs>
  <Slides>21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Aptos</vt:lpstr>
      <vt:lpstr>Arial</vt:lpstr>
      <vt:lpstr>Calibri</vt:lpstr>
      <vt:lpstr>Office Theme</vt:lpstr>
      <vt:lpstr>easyEXPRESS Viewers</vt:lpstr>
      <vt:lpstr>The status before 0.4.0</vt:lpstr>
      <vt:lpstr>Four new viewer surfaces</vt:lpstr>
      <vt:lpstr>Four new viewer surfaces (cont.)</vt:lpstr>
      <vt:lpstr>Annotated EXPRESS — format</vt:lpstr>
      <vt:lpstr>Annotated EXPRESS — corpus</vt:lpstr>
      <vt:lpstr>EXPRESS-G — [.svgmap] block</vt:lpstr>
      <vt:lpstr>EXPRESS-G — author flow + resolver</vt:lpstr>
      <vt:lpstr>Math rendering — Plurimath for description preview</vt:lpstr>
      <vt:lpstr>Math rendering — MathJax for hover</vt:lpstr>
      <vt:lpstr>Architecture — three processes</vt:lpstr>
      <vt:lpstr>Architecture — engines + bundling</vt:lpstr>
      <vt:lpstr>Data privacy — easyEXPRESS itself</vt:lpstr>
      <vt:lpstr>Data privacy — Copilot Chat is in the same window</vt:lpstr>
      <vt:lpstr>Data privacy — mitigations for pre-publication work</vt:lpstr>
      <vt:lpstr>Performance — instrumentation</vt:lpstr>
      <vt:lpstr>Performance — warm baselines</vt:lpstr>
      <vt:lpstr>Performance — bundle and packaging</vt:lpstr>
      <vt:lpstr>Installation and first use</vt:lpstr>
      <vt:lpstr>Roadmap</vt:lpstr>
      <vt:lpstr>Questions and contact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Thomas Thurman</cp:lastModifiedBy>
  <cp:revision>2</cp:revision>
  <dcterms:created xsi:type="dcterms:W3CDTF">2013-01-27T09:14:16Z</dcterms:created>
  <dcterms:modified xsi:type="dcterms:W3CDTF">2026-05-02T19:07:04Z</dcterms:modified>
  <cp:category/>
</cp:coreProperties>
</file>